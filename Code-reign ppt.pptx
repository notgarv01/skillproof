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jpeg"/><Relationship Id="rId2" Type="http://schemas.openxmlformats.org/officeDocument/2006/relationships/image" Target="../media/image-1002-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jpeg"/><Relationship Id="rId2" Type="http://schemas.openxmlformats.org/officeDocument/2006/relationships/image" Target="../media/image-1002-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jpeg"/><Relationship Id="rId2" Type="http://schemas.openxmlformats.org/officeDocument/2006/relationships/image" Target="../media/image-1002-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6-1.jpeg"/><Relationship Id="rId2" Type="http://schemas.openxmlformats.org/officeDocument/2006/relationships/image" Target="../media/image-1002-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3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3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4-2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7053" y="0"/>
            <a:ext cx="595724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385" y="0"/>
            <a:ext cx="2202105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293" y="1955800"/>
            <a:ext cx="3216294" cy="157043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50" y="3275905"/>
            <a:ext cx="2909319" cy="15299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1120" y="4911130"/>
            <a:ext cx="238317" cy="1034157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633893" y="562316"/>
            <a:ext cx="4551249" cy="1042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600" b="1" dirty="0">
                <a:solidFill>
                  <a:srgbClr val="272727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SkillProof</a:t>
            </a:r>
            <a:endParaRPr lang="en-US" sz="7600" dirty="0"/>
          </a:p>
        </p:txBody>
      </p:sp>
      <p:sp>
        <p:nvSpPr>
          <p:cNvPr id="8" name="Text 1"/>
          <p:cNvSpPr/>
          <p:nvPr/>
        </p:nvSpPr>
        <p:spPr>
          <a:xfrm>
            <a:off x="633893" y="3564731"/>
            <a:ext cx="5471579" cy="78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  <a:defRPr sz="1550" b="1">
                <a:solidFill>
                  <a:srgbClr val="464B55"/>
                </a:solidFill>
                <a:latin typeface="DM Sans Bold"/>
              </a:defRPr>
            </a:pPr>
            <a:r>
              <a:t>From Resume Claims → Real Evidence → Better Hiring</a:t>
            </a:r>
            <a:endParaRPr lang="en-US" sz="2150" dirty="0"/>
          </a:p>
          <a:p>
            <a:pPr>
              <a:defRPr sz="1200">
                <a:solidFill>
                  <a:srgbClr val="788291"/>
                </a:solidFill>
                <a:latin typeface="DM Sans"/>
              </a:defRPr>
            </a:pPr>
            <a:r>
              <a:t>Candidate → Evidence → AI Analysis → Skill Profile → Company Match</a:t>
            </a:r>
          </a:p>
        </p:txBody>
      </p:sp>
      <p:sp>
        <p:nvSpPr>
          <p:cNvPr id="9" name="Text 2"/>
          <p:cNvSpPr/>
          <p:nvPr/>
        </p:nvSpPr>
        <p:spPr>
          <a:xfrm>
            <a:off x="576050" y="4893370"/>
            <a:ext cx="1243477" cy="131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450" b="1" dirty="0">
                <a:solidFill>
                  <a:srgbClr val="4F85E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TEAM</a:t>
            </a:r>
            <a:endParaRPr lang="en-US" sz="145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450" b="1" dirty="0">
                <a:solidFill>
                  <a:srgbClr val="4F85E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TRACK</a:t>
            </a:r>
            <a:endParaRPr lang="en-US" sz="145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450" b="1" dirty="0">
                <a:solidFill>
                  <a:srgbClr val="4F85E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MEMBERS</a:t>
            </a:r>
            <a:endParaRPr lang="en-US" sz="1450" dirty="0"/>
          </a:p>
        </p:txBody>
      </p:sp>
      <p:sp>
        <p:nvSpPr>
          <p:cNvPr id="10" name="Text 3"/>
          <p:cNvSpPr/>
          <p:nvPr/>
        </p:nvSpPr>
        <p:spPr>
          <a:xfrm>
            <a:off x="2160137" y="4832152"/>
            <a:ext cx="3307970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450" b="1" dirty="0">
                <a:solidFill>
                  <a:srgbClr val="8A8B8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Code Reign</a:t>
            </a:r>
            <a:endParaRPr lang="en-US" sz="145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450" b="1" dirty="0">
                <a:solidFill>
                  <a:srgbClr val="8A8B8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AI-powered skill verification</a:t>
            </a:r>
            <a:endParaRPr lang="en-US" sz="1450" dirty="0"/>
          </a:p>
        </p:txBody>
      </p:sp>
      <p:sp>
        <p:nvSpPr>
          <p:cNvPr id="11" name="Text 4"/>
          <p:cNvSpPr/>
          <p:nvPr/>
        </p:nvSpPr>
        <p:spPr>
          <a:xfrm>
            <a:off x="2160137" y="5444728"/>
            <a:ext cx="3307970" cy="1225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3055" indent="-313055">
              <a:lnSpc>
                <a:spcPct val="138000"/>
              </a:lnSpc>
              <a:buSzPct val="100000"/>
              <a:buChar char="•"/>
            </a:pPr>
            <a:r>
              <a:rPr lang="en-US" sz="1450" b="1" dirty="0">
                <a:solidFill>
                  <a:srgbClr val="8A8B8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Lakshya Yadav (Leader)</a:t>
            </a:r>
            <a:endParaRPr lang="en-US" sz="1450" dirty="0"/>
          </a:p>
          <a:p>
            <a:pPr algn="l" marL="313055" indent="-313055">
              <a:lnSpc>
                <a:spcPct val="138000"/>
              </a:lnSpc>
              <a:buSzPct val="100000"/>
              <a:buChar char="•"/>
            </a:pPr>
            <a:r>
              <a:rPr lang="en-US" sz="1450" b="1" dirty="0">
                <a:solidFill>
                  <a:srgbClr val="8A8B8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Garv Gupta</a:t>
            </a:r>
            <a:endParaRPr lang="en-US" sz="1450" dirty="0"/>
          </a:p>
          <a:p>
            <a:pPr algn="l" marL="313055" indent="-313055">
              <a:lnSpc>
                <a:spcPct val="138000"/>
              </a:lnSpc>
              <a:buSzPct val="100000"/>
              <a:buChar char="•"/>
            </a:pPr>
            <a:r>
              <a:rPr lang="en-US" sz="1450" b="1" dirty="0">
                <a:solidFill>
                  <a:srgbClr val="8A8B8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Princy Joshi</a:t>
            </a:r>
            <a:endParaRPr lang="en-US" sz="1450" dirty="0"/>
          </a:p>
          <a:p>
            <a:pPr algn="l" marL="313055" indent="-313055">
              <a:lnSpc>
                <a:spcPct val="138000"/>
              </a:lnSpc>
              <a:buSzPct val="100000"/>
              <a:buChar char="•"/>
            </a:pPr>
            <a:r>
              <a:rPr lang="en-US" sz="1450" b="1" dirty="0">
                <a:solidFill>
                  <a:srgbClr val="6B6B6B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Pranjal Malviya</a:t>
            </a:r>
            <a:endParaRPr lang="en-US" sz="1450" dirty="0"/>
          </a:p>
        </p:txBody>
      </p:sp>
      <p:sp>
        <p:nvSpPr>
          <p:cNvPr id="12" name="Text 5"/>
          <p:cNvSpPr/>
          <p:nvPr/>
        </p:nvSpPr>
        <p:spPr>
          <a:xfrm>
            <a:off x="7371372" y="3789713"/>
            <a:ext cx="4654037" cy="1217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Aravalli Build Challenge</a:t>
            </a:r>
            <a:endParaRPr lang="en-US" sz="4450" dirty="0"/>
          </a:p>
        </p:txBody>
      </p:sp>
      <p:sp>
        <p:nvSpPr>
          <p:cNvPr id="13" name="TextBox 12"/>
          <p:cNvSpPr txBox="1"/>
          <p:nvPr/>
        </p:nvSpPr>
        <p:spPr>
          <a:xfrm>
            <a:off x="633893" y="1650000"/>
            <a:ext cx="54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96BFA"/>
                </a:solidFill>
                <a:latin typeface="DM Sans Bold"/>
              </a:defRPr>
            </a:pPr>
            <a:r>
              <a:t>“Don't just claim your skills. Prove them.”</a:t>
            </a:r>
          </a:p>
          <a:p>
            <a:pPr>
              <a:defRPr sz="1550">
                <a:solidFill>
                  <a:srgbClr val="505A69"/>
                </a:solidFill>
                <a:latin typeface="DM Sans"/>
              </a:defRPr>
            </a:pPr>
            <a:r>
              <a:t>AI-powered evidence-based skill verification &amp; talent matching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50" y="422573"/>
            <a:ext cx="2333269" cy="1529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00" y="821611"/>
            <a:ext cx="8296564" cy="790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475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PROBLEM STATEMENT</a:t>
            </a:r>
            <a:endParaRPr lang="en-US" sz="4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50" y="1851124"/>
            <a:ext cx="10478428" cy="3869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72826" y="2267545"/>
            <a:ext cx="1618118" cy="2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072826" y="2638425"/>
            <a:ext cx="7322359" cy="673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072826" y="3971230"/>
            <a:ext cx="1970137" cy="264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072826" y="4330402"/>
            <a:ext cx="9802071" cy="316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398" y="6333331"/>
            <a:ext cx="29170" cy="15299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8300" y="6371884"/>
            <a:ext cx="3064096" cy="138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sz="900" b="1">
                <a:solidFill>
                  <a:srgbClr val="000000"/>
                </a:solidFill>
                <a:latin typeface="DM Sans Bold"/>
              </a:rPr>
              <a:t>ABC — Aravali Build Championship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3011313" y="6372463"/>
            <a:ext cx="1677549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sz="900" b="1">
                <a:solidFill>
                  <a:srgbClr val="8F8F8F"/>
                </a:solidFill>
                <a:latin typeface="DM Sans Bold"/>
              </a:rPr>
              <a:t>by GDG Udaipur</a:t>
            </a:r>
            <a:endParaRPr lang="en-US" sz="900" dirty="0"/>
          </a:p>
        </p:txBody>
      </p:sp>
      <p:sp>
        <p:nvSpPr>
          <p:cNvPr id="12" name="Rounded Rectangle 11"/>
          <p:cNvSpPr/>
          <p:nvPr/>
        </p:nvSpPr>
        <p:spPr>
          <a:xfrm>
            <a:off x="950000" y="2050000"/>
            <a:ext cx="3200000" cy="34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77800" bIns="152400"/>
          <a:lstStyle/>
          <a:p>
            <a:pPr algn="ctr">
              <a:spcAft>
                <a:spcPts val="1000"/>
              </a:spcAft>
              <a:defRPr sz="1400" b="1">
                <a:solidFill>
                  <a:srgbClr val="196BFA"/>
                </a:solidFill>
                <a:latin typeface="DM Sans Bold"/>
              </a:defRPr>
            </a:pPr>
            <a:r>
              <a:t>THE PROBLEM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DM Sans"/>
              </a:defRPr>
            </a:pPr>
            <a:r>
              <a:t>Resumes describe what candidates claim to know, but do not reliably demonstrate what they can actually do.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  <a:latin typeface="DM Sans"/>
              </a:defRPr>
            </a:pPr>
            <a:r>
              <a:t>Recruiters spend countless hours filtering keyword-stuffed applications with low hiring confidence.</a:t>
            </a:r>
          </a:p>
          <a:p>
            <a:pPr>
              <a:spcAft>
                <a:spcPts val="400"/>
              </a:spcAft>
              <a:defRPr sz="1100">
                <a:solidFill>
                  <a:srgbClr val="5A6473"/>
                </a:solidFill>
                <a:latin typeface="DM Sans"/>
              </a:defRPr>
            </a:pPr>
            <a:r>
              <a:t>• Keyword stuffing tricks standard ATS</a:t>
            </a:r>
          </a:p>
          <a:p>
            <a:pPr>
              <a:spcAft>
                <a:spcPts val="400"/>
              </a:spcAft>
              <a:defRPr sz="1100">
                <a:solidFill>
                  <a:srgbClr val="5A6473"/>
                </a:solidFill>
                <a:latin typeface="DM Sans"/>
              </a:defRPr>
            </a:pPr>
            <a:r>
              <a:t>• Zero proof behind claimed skill lists</a:t>
            </a:r>
          </a:p>
          <a:p>
            <a:pPr>
              <a:defRPr sz="1100">
                <a:solidFill>
                  <a:srgbClr val="5A6473"/>
                </a:solidFill>
                <a:latin typeface="DM Sans"/>
              </a:defRPr>
            </a:pPr>
            <a:r>
              <a:t>• High risk of costly, misaligned hires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0000" y="2050000"/>
            <a:ext cx="3200000" cy="34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77800" bIns="152400"/>
          <a:lstStyle/>
          <a:p>
            <a:pPr algn="ctr">
              <a:spcAft>
                <a:spcPts val="1000"/>
              </a:spcAft>
              <a:defRPr sz="1400" b="1">
                <a:solidFill>
                  <a:srgbClr val="EA4335"/>
                </a:solidFill>
                <a:latin typeface="DM Sans Bold"/>
              </a:defRPr>
            </a:pPr>
            <a:r>
              <a:t>THE REAL GAP</a:t>
            </a:r>
          </a:p>
          <a:p>
            <a:pPr>
              <a:spcAft>
                <a:spcPts val="200"/>
              </a:spcAft>
              <a:defRPr sz="1100" b="1">
                <a:solidFill>
                  <a:srgbClr val="212529"/>
                </a:solidFill>
                <a:latin typeface="DM Sans Bold"/>
              </a:defRPr>
            </a:pPr>
            <a:r>
              <a:t>Current Hiring Process:</a:t>
            </a:r>
          </a:p>
          <a:p>
            <a:pPr>
              <a:spcAft>
                <a:spcPts val="800"/>
              </a:spcAft>
              <a:defRPr sz="1050">
                <a:solidFill>
                  <a:srgbClr val="646E7D"/>
                </a:solidFill>
                <a:latin typeface="DM Sans"/>
              </a:defRPr>
            </a:pPr>
            <a:r>
              <a:t>Resume → Keywords → Shortlist → Interview</a:t>
            </a:r>
          </a:p>
          <a:p>
            <a:pPr>
              <a:spcAft>
                <a:spcPts val="200"/>
              </a:spcAft>
              <a:defRPr sz="1150" b="1">
                <a:solidFill>
                  <a:srgbClr val="EA4335"/>
                </a:solidFill>
                <a:latin typeface="DM Sans Bold"/>
              </a:defRPr>
            </a:pPr>
            <a:r>
              <a:t>The Fundamental Flaw:</a:t>
            </a:r>
          </a:p>
          <a:p>
            <a:pPr>
              <a:spcAft>
                <a:spcPts val="1000"/>
              </a:spcAft>
              <a:defRPr sz="1300" b="1">
                <a:solidFill>
                  <a:srgbClr val="212529"/>
                </a:solidFill>
                <a:latin typeface="DM Sans Bold"/>
              </a:defRPr>
            </a:pPr>
            <a:r>
              <a:t>Claim ≠ Demonstrated Ability</a:t>
            </a:r>
          </a:p>
          <a:p>
            <a:pPr>
              <a:spcAft>
                <a:spcPts val="400"/>
              </a:spcAft>
              <a:defRPr sz="1100" b="1">
                <a:solidFill>
                  <a:srgbClr val="0F50C8"/>
                </a:solidFill>
                <a:latin typeface="DM Sans Bold"/>
              </a:defRPr>
            </a:pPr>
            <a:r>
              <a:t>What is Missing Today?</a:t>
            </a:r>
          </a:p>
          <a:p>
            <a:pPr>
              <a:spcAft>
                <a:spcPts val="400"/>
              </a:spcAft>
              <a:defRPr sz="1100">
                <a:solidFill>
                  <a:srgbClr val="212529"/>
                </a:solidFill>
                <a:latin typeface="DM Sans"/>
              </a:defRPr>
            </a:pPr>
            <a:r>
              <a:t>✔ Tangible evidence supporting each claim</a:t>
            </a:r>
          </a:p>
          <a:p>
            <a:pPr>
              <a:spcAft>
                <a:spcPts val="400"/>
              </a:spcAft>
              <a:defRPr sz="1100">
                <a:solidFill>
                  <a:srgbClr val="212529"/>
                </a:solidFill>
                <a:latin typeface="DM Sans"/>
              </a:defRPr>
            </a:pPr>
            <a:r>
              <a:t>✔ Clear, explainable link from skill to proof</a:t>
            </a:r>
          </a:p>
          <a:p>
            <a:pPr>
              <a:defRPr sz="1100">
                <a:solidFill>
                  <a:srgbClr val="212529"/>
                </a:solidFill>
                <a:latin typeface="DM Sans"/>
              </a:defRPr>
            </a:pPr>
            <a:r>
              <a:t>✔ Hands-on proof before interview stage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30000" y="2050000"/>
            <a:ext cx="3200000" cy="34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77800" bIns="152400"/>
          <a:lstStyle/>
          <a:p>
            <a:pPr algn="ctr">
              <a:spcAft>
                <a:spcPts val="1000"/>
              </a:spcAft>
              <a:defRPr sz="1400" b="1">
                <a:solidFill>
                  <a:srgbClr val="02A845"/>
                </a:solidFill>
                <a:latin typeface="DM Sans Bold"/>
              </a:defRPr>
            </a:pPr>
            <a:r>
              <a:t>TARGET USERS &amp; POSITIONING</a:t>
            </a:r>
          </a:p>
          <a:p>
            <a:pPr>
              <a:spcAft>
                <a:spcPts val="200"/>
              </a:spcAft>
              <a:defRPr sz="1150" b="1">
                <a:solidFill>
                  <a:srgbClr val="212529"/>
                </a:solidFill>
                <a:latin typeface="DM Sans Bold"/>
              </a:defRPr>
            </a:pPr>
            <a:r>
              <a:t>Candidates:</a:t>
            </a:r>
          </a:p>
          <a:p>
            <a:pPr>
              <a:spcAft>
                <a:spcPts val="800"/>
              </a:spcAft>
              <a:defRPr sz="1100">
                <a:solidFill>
                  <a:srgbClr val="46505F"/>
                </a:solidFill>
                <a:latin typeface="DM Sans"/>
              </a:defRPr>
            </a:pPr>
            <a:r>
              <a:t>Real builders get overlooked by keyword filters; need a verifiable way to prove practical ability.</a:t>
            </a:r>
          </a:p>
          <a:p>
            <a:pPr>
              <a:spcAft>
                <a:spcPts val="200"/>
              </a:spcAft>
              <a:defRPr sz="1150" b="1">
                <a:solidFill>
                  <a:srgbClr val="212529"/>
                </a:solidFill>
                <a:latin typeface="DM Sans Bold"/>
              </a:defRPr>
            </a:pPr>
            <a:r>
              <a:t>Companies &amp; Recruiters:</a:t>
            </a:r>
          </a:p>
          <a:p>
            <a:pPr>
              <a:spcAft>
                <a:spcPts val="1000"/>
              </a:spcAft>
              <a:defRPr sz="1100">
                <a:solidFill>
                  <a:srgbClr val="46505F"/>
                </a:solidFill>
                <a:latin typeface="DM Sans"/>
              </a:defRPr>
            </a:pPr>
            <a:r>
              <a:t>Need high confidence, faster evidence review, and focused shortlists based on actual proof.</a:t>
            </a:r>
          </a:p>
          <a:p>
            <a:pPr>
              <a:spcAft>
                <a:spcPts val="200"/>
              </a:spcAft>
              <a:defRPr sz="1100" b="1">
                <a:solidFill>
                  <a:srgbClr val="196BFA"/>
                </a:solidFill>
                <a:latin typeface="DM Sans Bold"/>
              </a:defRPr>
            </a:pPr>
            <a:r>
              <a:t>Strategic Positioning:</a:t>
            </a:r>
          </a:p>
          <a:p>
            <a:pPr>
              <a:defRPr sz="1100" b="1">
                <a:solidFill>
                  <a:srgbClr val="212529"/>
                </a:solidFill>
                <a:latin typeface="DM Sans Bold"/>
              </a:defRPr>
            </a:pPr>
            <a:r>
              <a:t>“We are not trying to replace job portals. We add an evidence layer between a candidate’s claims and a company’s confidence.”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50" y="422573"/>
            <a:ext cx="2333269" cy="1529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00" y="911007"/>
            <a:ext cx="8353712" cy="790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475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SOLUTION</a:t>
            </a:r>
            <a:endParaRPr lang="en-US" sz="4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83" y="1756370"/>
            <a:ext cx="10802072" cy="433417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04495" y="2165350"/>
            <a:ext cx="1671199" cy="2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304495" y="2537817"/>
            <a:ext cx="9767147" cy="883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304495" y="3843238"/>
            <a:ext cx="1970137" cy="264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398" y="6333331"/>
            <a:ext cx="29170" cy="15299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8300" y="6371884"/>
            <a:ext cx="3064096" cy="138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sz="900" b="1">
                <a:solidFill>
                  <a:srgbClr val="000000"/>
                </a:solidFill>
                <a:latin typeface="DM Sans Bold"/>
              </a:rPr>
              <a:t>ABC — Aravali Build Championship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1304495" y="4193381"/>
            <a:ext cx="4909618" cy="1719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3011313" y="6372463"/>
            <a:ext cx="1677549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sz="900" b="1">
                <a:solidFill>
                  <a:srgbClr val="8F8F8F"/>
                </a:solidFill>
                <a:latin typeface="DM Sans Bold"/>
              </a:rPr>
              <a:t>by GDG Udaipur</a:t>
            </a:r>
            <a:endParaRPr lang="en-US" sz="900" dirty="0"/>
          </a:p>
        </p:txBody>
      </p:sp>
      <p:sp>
        <p:nvSpPr>
          <p:cNvPr id="12" name="Rounded Rectangle 11"/>
          <p:cNvSpPr/>
          <p:nvPr/>
        </p:nvSpPr>
        <p:spPr>
          <a:xfrm>
            <a:off x="900000" y="1920000"/>
            <a:ext cx="10370000" cy="10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ctr">
              <a:spcAft>
                <a:spcPts val="400"/>
              </a:spcAft>
              <a:defRPr sz="1350" b="1">
                <a:solidFill>
                  <a:srgbClr val="196BFA"/>
                </a:solidFill>
                <a:latin typeface="DM Sans Bold"/>
              </a:defRPr>
            </a:pPr>
            <a:r>
              <a:t>OUR SOLUTION: SKILLPROOF</a:t>
            </a:r>
          </a:p>
          <a:p>
            <a:pPr>
              <a:spcAft>
                <a:spcPts val="600"/>
              </a:spcAft>
              <a:defRPr sz="1200">
                <a:solidFill>
                  <a:srgbClr val="212529"/>
                </a:solidFill>
                <a:latin typeface="DM Sans"/>
              </a:defRPr>
            </a:pPr>
            <a:r>
              <a:t>An AI-powered evidence layer that analyzes candidate skill claims and supporting artifacts (GitHub, projects, docs, certs), creates explainable skill profiles, strengthens them with practical verification, and matches candidates to role requirements.</a:t>
            </a:r>
          </a:p>
          <a:p>
            <a:pPr>
              <a:defRPr sz="1150" b="1">
                <a:solidFill>
                  <a:srgbClr val="0F50C8"/>
                </a:solidFill>
                <a:latin typeface="DM Sans Bold"/>
              </a:defRPr>
            </a:pPr>
            <a:r>
              <a:t>Core Loop: Person → Evidence → AI Skill Analysis → Evidence Tier → Company Requirements → Explainable Matching → Hiring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" y="310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01600"/>
          <a:lstStyle/>
          <a:p>
            <a:pPr algn="ctr">
              <a:spcAft>
                <a:spcPts val="400"/>
              </a:spcAft>
              <a:defRPr sz="1250" b="1">
                <a:solidFill>
                  <a:srgbClr val="196BFA"/>
                </a:solidFill>
                <a:latin typeface="DM Sans Bold"/>
              </a:defRPr>
            </a:pPr>
            <a:r>
              <a:t>1. Claim vs Evidence</a:t>
            </a:r>
          </a:p>
          <a:p>
            <a:pPr>
              <a:defRPr sz="1100">
                <a:solidFill>
                  <a:srgbClr val="212529"/>
                </a:solidFill>
                <a:latin typeface="DM Sans"/>
              </a:defRPr>
            </a:pPr>
            <a:r>
              <a:t>Compare what the candidate says directly with verifiable evidence available for that skill.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5000" y="310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01600"/>
          <a:lstStyle/>
          <a:p>
            <a:pPr algn="ctr">
              <a:spcAft>
                <a:spcPts val="400"/>
              </a:spcAft>
              <a:defRPr sz="1250" b="1">
                <a:solidFill>
                  <a:srgbClr val="02A845"/>
                </a:solidFill>
                <a:latin typeface="DM Sans Bold"/>
              </a:defRPr>
            </a:pPr>
            <a:r>
              <a:t>2. Skill Evidence Graph</a:t>
            </a:r>
          </a:p>
          <a:p>
            <a:pPr>
              <a:defRPr sz="1100">
                <a:solidFill>
                  <a:srgbClr val="212529"/>
                </a:solidFill>
                <a:latin typeface="DM Sans"/>
              </a:defRPr>
            </a:pPr>
            <a:r>
              <a:t>Connect each skill to projects, GitHub activity, documentation, certs, and assessments.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0000" y="310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01600"/>
          <a:lstStyle/>
          <a:p>
            <a:pPr algn="ctr">
              <a:spcAft>
                <a:spcPts val="400"/>
              </a:spcAft>
              <a:defRPr sz="1250" b="1">
                <a:solidFill>
                  <a:srgbClr val="DC780A"/>
                </a:solidFill>
                <a:latin typeface="DM Sans Bold"/>
              </a:defRPr>
            </a:pPr>
            <a:r>
              <a:t>3. Practical Skill Challenges</a:t>
            </a:r>
          </a:p>
          <a:p>
            <a:pPr>
              <a:defRPr sz="1100">
                <a:solidFill>
                  <a:srgbClr val="212529"/>
                </a:solidFill>
                <a:latin typeface="DM Sans"/>
              </a:defRPr>
            </a:pPr>
            <a:r>
              <a:t>Offer short, role-specific tasks to collect direct evidence of applied, hands-on 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000" y="440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01600"/>
          <a:lstStyle/>
          <a:p>
            <a:pPr algn="ctr">
              <a:spcAft>
                <a:spcPts val="400"/>
              </a:spcAft>
              <a:defRPr sz="1250" b="1">
                <a:solidFill>
                  <a:srgbClr val="EA4335"/>
                </a:solidFill>
                <a:latin typeface="DM Sans Bold"/>
              </a:defRPr>
            </a:pPr>
            <a:r>
              <a:t>4. Explainable Evidence Tiers</a:t>
            </a:r>
          </a:p>
          <a:p>
            <a:pPr>
              <a:defRPr sz="1100">
                <a:solidFill>
                  <a:srgbClr val="212529"/>
                </a:solidFill>
                <a:latin typeface="DM Sans"/>
              </a:defRPr>
            </a:pPr>
            <a:r>
              <a:t>Show Strong, Moderate, or Limited Evidence with supporting sources and transparent gaps.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5000" y="440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01600"/>
          <a:lstStyle/>
          <a:p>
            <a:pPr algn="ctr">
              <a:spcAft>
                <a:spcPts val="400"/>
              </a:spcAft>
              <a:defRPr sz="1250" b="1">
                <a:solidFill>
                  <a:srgbClr val="0F50C8"/>
                </a:solidFill>
                <a:latin typeface="DM Sans Bold"/>
              </a:defRPr>
            </a:pPr>
            <a:r>
              <a:t>5. Experience-Domain Matching</a:t>
            </a:r>
          </a:p>
          <a:p>
            <a:pPr>
              <a:defRPr sz="1100">
                <a:solidFill>
                  <a:srgbClr val="212529"/>
                </a:solidFill>
                <a:latin typeface="DM Sans"/>
              </a:defRPr>
            </a:pPr>
            <a:r>
              <a:t>Match candidates by technical field, required skills, evidence tier, and experience depth.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0000" y="440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01600"/>
          <a:lstStyle/>
          <a:p>
            <a:pPr algn="ctr">
              <a:spcAft>
                <a:spcPts val="400"/>
              </a:spcAft>
              <a:defRPr sz="1250" b="1">
                <a:solidFill>
                  <a:srgbClr val="02A845"/>
                </a:solidFill>
                <a:latin typeface="DM Sans Bold"/>
              </a:defRPr>
            </a:pPr>
            <a:r>
              <a:t>6. Explainable Company Matching</a:t>
            </a:r>
          </a:p>
          <a:p>
            <a:pPr>
              <a:defRPr sz="1100">
                <a:solidFill>
                  <a:srgbClr val="212529"/>
                </a:solidFill>
                <a:latin typeface="DM Sans"/>
              </a:defRPr>
            </a:pPr>
            <a:r>
              <a:t>Show exactly why a candidate matches a role instead of displaying an opaque match score.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000" y="5680000"/>
            <a:ext cx="1037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A6473"/>
                </a:solidFill>
                <a:latin typeface="DM Sans"/>
              </a:defRPr>
            </a:pPr>
            <a:r>
              <a:t>💡 Keep the system honest: Evidence tiers assess available evidence, not a person's total ability. AI assists evaluation—human hiring decisions stay in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50" y="422573"/>
            <a:ext cx="2333269" cy="1529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7381" y="856555"/>
            <a:ext cx="8470787" cy="7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7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TECHNICAL APPROACH</a:t>
            </a:r>
            <a:endParaRPr lang="en-US" sz="4700" dirty="0"/>
          </a:p>
        </p:txBody>
      </p:sp>
      <p:sp>
        <p:nvSpPr>
          <p:cNvPr id="4" name="Text 1"/>
          <p:cNvSpPr/>
          <p:nvPr/>
        </p:nvSpPr>
        <p:spPr>
          <a:xfrm>
            <a:off x="682707" y="1938536"/>
            <a:ext cx="24543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7A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SKILLPROOF EVIDENCE-TO-MATCH WORKFLOW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3593" y="4707930"/>
            <a:ext cx="153091" cy="1013023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640" y="6340574"/>
            <a:ext cx="29170" cy="15299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82707" y="6337796"/>
            <a:ext cx="278460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sz="900" b="1">
                <a:solidFill>
                  <a:srgbClr val="000000"/>
                </a:solidFill>
                <a:latin typeface="DM Sans Bold"/>
              </a:rPr>
              <a:t>ABC — Aravali Build Championship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3023517" y="6337498"/>
            <a:ext cx="1662865" cy="187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sz="900" b="1">
                <a:solidFill>
                  <a:srgbClr val="8F8F8F"/>
                </a:solidFill>
                <a:latin typeface="DM Sans Bold"/>
              </a:rPr>
              <a:t>by GDG Udaipur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600000" y="2650000"/>
            <a:ext cx="1620000" cy="1100000"/>
          </a:xfrm>
          <a:prstGeom prst="roundRect">
            <a:avLst>
              <a:gd name="adj" fmla="val 10197"/>
            </a:avLst>
          </a:prstGeom>
          <a:solidFill>
            <a:srgbClr val="FFFFFF"/>
          </a:solidFill>
          <a:ln w="6350">
            <a:solidFill>
              <a:srgbClr val="007AFF"/>
            </a:solidFill>
            <a:prstDash val="solid"/>
          </a:ln>
        </p:spPr>
        <p:txBody>
          <a:bodyPr/>
          <a:p/>
        </p:txBody>
      </p:sp>
      <p:sp>
        <p:nvSpPr>
          <p:cNvPr id="10" name="Text 5"/>
          <p:cNvSpPr/>
          <p:nvPr/>
        </p:nvSpPr>
        <p:spPr>
          <a:xfrm>
            <a:off x="660000" y="2710000"/>
            <a:ext cx="150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40000"/>
              </a:lnSpc>
              <a:spcAft>
                <a:spcPts val="300"/>
              </a:spcAft>
              <a:buNone/>
              <a:defRPr sz="1100" b="1">
                <a:solidFill>
                  <a:srgbClr val="212529"/>
                </a:solidFill>
                <a:latin typeface="DM Sans Bold"/>
              </a:defRPr>
            </a:pPr>
            <a:r>
              <a:t>1. Submit Evidence</a:t>
            </a:r>
            <a:endParaRPr lang="en-US" sz="1100" dirty="0"/>
          </a:p>
          <a:p>
            <a:pPr>
              <a:defRPr sz="950">
                <a:solidFill>
                  <a:srgbClr val="5A6473"/>
                </a:solidFill>
                <a:latin typeface="DM Sans"/>
              </a:defRPr>
            </a:pPr>
            <a:r>
              <a:t>Resume, GitHub, projects, docs, certificates &amp; experience</a:t>
            </a:r>
          </a:p>
        </p:txBody>
      </p:sp>
      <p:sp>
        <p:nvSpPr>
          <p:cNvPr id="11" name="Text 6"/>
          <p:cNvSpPr/>
          <p:nvPr/>
        </p:nvSpPr>
        <p:spPr>
          <a:xfrm>
            <a:off x="2230000" y="3010000"/>
            <a:ext cx="240000" cy="36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  <a:defRPr sz="1800" b="1">
                <a:solidFill>
                  <a:srgbClr val="196BFA"/>
                </a:solidFill>
                <a:latin typeface="Arial"/>
              </a:defRPr>
            </a:pPr>
            <a:r>
              <a:t>→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2480000" y="2650000"/>
            <a:ext cx="1620000" cy="1100000"/>
          </a:xfrm>
          <a:prstGeom prst="roundRect">
            <a:avLst>
              <a:gd name="adj" fmla="val 10197"/>
            </a:avLst>
          </a:prstGeom>
          <a:solidFill>
            <a:srgbClr val="FFFFFF"/>
          </a:solidFill>
          <a:ln w="6350">
            <a:solidFill>
              <a:srgbClr val="007AFF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2540000" y="2710000"/>
            <a:ext cx="150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40000"/>
              </a:lnSpc>
              <a:spcAft>
                <a:spcPts val="300"/>
              </a:spcAft>
              <a:buNone/>
              <a:defRPr sz="1100" b="1">
                <a:solidFill>
                  <a:srgbClr val="212529"/>
                </a:solidFill>
                <a:latin typeface="DM Sans Bold"/>
              </a:defRPr>
            </a:pPr>
            <a:r>
              <a:t>2. Extract Skills</a:t>
            </a:r>
            <a:endParaRPr lang="en-US" sz="1100" dirty="0"/>
          </a:p>
          <a:p>
            <a:pPr>
              <a:defRPr sz="950">
                <a:solidFill>
                  <a:srgbClr val="5A6473"/>
                </a:solidFill>
                <a:latin typeface="DM Sans"/>
              </a:defRPr>
            </a:pPr>
            <a:r>
              <a:t>Gemini AI maps claimed skills to verifiable evidence sources</a:t>
            </a:r>
          </a:p>
        </p:txBody>
      </p:sp>
      <p:sp>
        <p:nvSpPr>
          <p:cNvPr id="14" name="Text 9"/>
          <p:cNvSpPr/>
          <p:nvPr/>
        </p:nvSpPr>
        <p:spPr>
          <a:xfrm>
            <a:off x="4110000" y="3010000"/>
            <a:ext cx="240000" cy="36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  <a:defRPr sz="1800" b="1">
                <a:solidFill>
                  <a:srgbClr val="196BFA"/>
                </a:solidFill>
                <a:latin typeface="Arial"/>
              </a:defRPr>
            </a:pPr>
            <a:r>
              <a:t>→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360000" y="2650000"/>
            <a:ext cx="1620000" cy="1100000"/>
          </a:xfrm>
          <a:prstGeom prst="roundRect">
            <a:avLst>
              <a:gd name="adj" fmla="val 10197"/>
            </a:avLst>
          </a:prstGeom>
          <a:solidFill>
            <a:srgbClr val="FFFFFF"/>
          </a:solidFill>
          <a:ln w="6350">
            <a:solidFill>
              <a:srgbClr val="007AFF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/>
          <p:nvPr/>
        </p:nvSpPr>
        <p:spPr>
          <a:xfrm>
            <a:off x="4420000" y="2710000"/>
            <a:ext cx="150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40000"/>
              </a:lnSpc>
              <a:spcAft>
                <a:spcPts val="300"/>
              </a:spcAft>
              <a:buNone/>
              <a:defRPr sz="1100" b="1">
                <a:solidFill>
                  <a:srgbClr val="212529"/>
                </a:solidFill>
                <a:latin typeface="DM Sans Bold"/>
              </a:defRPr>
            </a:pPr>
            <a:r>
              <a:t>3. Evidence Graph</a:t>
            </a:r>
            <a:endParaRPr lang="en-US" sz="1100" dirty="0"/>
          </a:p>
          <a:p>
            <a:pPr>
              <a:defRPr sz="950">
                <a:solidFill>
                  <a:srgbClr val="5A6473"/>
                </a:solidFill>
                <a:latin typeface="DM Sans"/>
              </a:defRPr>
            </a:pPr>
            <a:r>
              <a:t>Skills linked to code repos, commits, docs &amp; assessments</a:t>
            </a:r>
          </a:p>
        </p:txBody>
      </p:sp>
      <p:sp>
        <p:nvSpPr>
          <p:cNvPr id="17" name="Text 12"/>
          <p:cNvSpPr/>
          <p:nvPr/>
        </p:nvSpPr>
        <p:spPr>
          <a:xfrm>
            <a:off x="5990000" y="3010000"/>
            <a:ext cx="240000" cy="36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  <a:defRPr sz="1800" b="1">
                <a:solidFill>
                  <a:srgbClr val="196BFA"/>
                </a:solidFill>
                <a:latin typeface="Arial"/>
              </a:defRPr>
            </a:pPr>
            <a:r>
              <a:t>→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240000" y="2650000"/>
            <a:ext cx="1620000" cy="1100000"/>
          </a:xfrm>
          <a:prstGeom prst="roundRect">
            <a:avLst>
              <a:gd name="adj" fmla="val 10197"/>
            </a:avLst>
          </a:prstGeom>
          <a:solidFill>
            <a:srgbClr val="FFFFFF"/>
          </a:solidFill>
          <a:ln w="6350">
            <a:solidFill>
              <a:srgbClr val="007AFF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6300000" y="2710000"/>
            <a:ext cx="150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40000"/>
              </a:lnSpc>
              <a:spcAft>
                <a:spcPts val="300"/>
              </a:spcAft>
              <a:buNone/>
              <a:defRPr sz="1100" b="1">
                <a:solidFill>
                  <a:srgbClr val="212529"/>
                </a:solidFill>
                <a:latin typeface="DM Sans Bold"/>
              </a:defRPr>
            </a:pPr>
            <a:r>
              <a:t>4. Verify in Practice</a:t>
            </a:r>
            <a:endParaRPr lang="en-US" sz="1100" dirty="0"/>
          </a:p>
          <a:p>
            <a:pPr>
              <a:defRPr sz="950">
                <a:solidFill>
                  <a:srgbClr val="5A6473"/>
                </a:solidFill>
                <a:latin typeface="DM Sans"/>
              </a:defRPr>
            </a:pPr>
            <a:r>
              <a:t>Role-specific challenge tests practical skill application</a:t>
            </a:r>
          </a:p>
        </p:txBody>
      </p:sp>
      <p:sp>
        <p:nvSpPr>
          <p:cNvPr id="20" name="Text 15"/>
          <p:cNvSpPr/>
          <p:nvPr/>
        </p:nvSpPr>
        <p:spPr>
          <a:xfrm>
            <a:off x="7870000" y="3010000"/>
            <a:ext cx="240000" cy="36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  <a:defRPr sz="1800" b="1">
                <a:solidFill>
                  <a:srgbClr val="196BFA"/>
                </a:solidFill>
                <a:latin typeface="Arial"/>
              </a:defRPr>
            </a:pPr>
            <a:r>
              <a:t>→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8120000" y="2650000"/>
            <a:ext cx="1620000" cy="1100000"/>
          </a:xfrm>
          <a:prstGeom prst="roundRect">
            <a:avLst>
              <a:gd name="adj" fmla="val 7560"/>
            </a:avLst>
          </a:prstGeom>
          <a:solidFill>
            <a:srgbClr val="FFFFFF"/>
          </a:solidFill>
          <a:ln w="6350">
            <a:solidFill>
              <a:srgbClr val="007AFF"/>
            </a:solidFill>
            <a:prstDash val="solid"/>
          </a:ln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8180000" y="2710000"/>
            <a:ext cx="150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40000"/>
              </a:lnSpc>
              <a:spcAft>
                <a:spcPts val="300"/>
              </a:spcAft>
              <a:buNone/>
              <a:defRPr sz="1100" b="1">
                <a:solidFill>
                  <a:srgbClr val="212529"/>
                </a:solidFill>
                <a:latin typeface="DM Sans Bold"/>
              </a:defRPr>
            </a:pPr>
            <a:r>
              <a:t>5. Evidence Profile</a:t>
            </a:r>
            <a:endParaRPr lang="en-US" sz="1100" dirty="0"/>
          </a:p>
          <a:p>
            <a:pPr>
              <a:defRPr sz="950">
                <a:solidFill>
                  <a:srgbClr val="5A6473"/>
                </a:solidFill>
                <a:latin typeface="DM Sans"/>
              </a:defRPr>
            </a:pPr>
            <a:r>
              <a:t>Calculates Strong, Moderate, Limited tiers + shows gaps</a:t>
            </a:r>
          </a:p>
        </p:txBody>
      </p:sp>
      <p:sp>
        <p:nvSpPr>
          <p:cNvPr id="23" name="Text 18"/>
          <p:cNvSpPr/>
          <p:nvPr/>
        </p:nvSpPr>
        <p:spPr>
          <a:xfrm>
            <a:off x="9750000" y="3010000"/>
            <a:ext cx="240000" cy="36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  <a:defRPr sz="1800" b="1">
                <a:solidFill>
                  <a:srgbClr val="196BFA"/>
                </a:solidFill>
                <a:latin typeface="Arial"/>
              </a:defRPr>
            </a:pPr>
            <a:r>
              <a:t>→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10000000" y="2650000"/>
            <a:ext cx="1620000" cy="1100000"/>
          </a:xfrm>
          <a:prstGeom prst="roundRect">
            <a:avLst>
              <a:gd name="adj" fmla="val 6006"/>
            </a:avLst>
          </a:prstGeom>
          <a:solidFill>
            <a:srgbClr val="FFFFFF"/>
          </a:solidFill>
          <a:ln w="6350">
            <a:solidFill>
              <a:srgbClr val="007AFF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/>
          <p:nvPr/>
        </p:nvSpPr>
        <p:spPr>
          <a:xfrm>
            <a:off x="10060000" y="2710000"/>
            <a:ext cx="150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40000"/>
              </a:lnSpc>
              <a:spcAft>
                <a:spcPts val="300"/>
              </a:spcAft>
              <a:buNone/>
              <a:defRPr sz="1100" b="1">
                <a:solidFill>
                  <a:srgbClr val="212529"/>
                </a:solidFill>
                <a:latin typeface="DM Sans Bold"/>
              </a:defRPr>
            </a:pPr>
            <a:r>
              <a:t>6. Match to Role</a:t>
            </a:r>
            <a:endParaRPr lang="en-US" sz="1100" dirty="0"/>
          </a:p>
          <a:p>
            <a:pPr>
              <a:defRPr sz="950">
                <a:solidFill>
                  <a:srgbClr val="5A6473"/>
                </a:solidFill>
                <a:latin typeface="DM Sans"/>
              </a:defRPr>
            </a:pPr>
            <a:r>
              <a:t>Compares profile with company requirements &amp; explains match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0000" y="4050000"/>
            <a:ext cx="5350000" cy="21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01600"/>
          <a:lstStyle/>
          <a:p>
            <a:pPr algn="ctr">
              <a:spcAft>
                <a:spcPts val="600"/>
              </a:spcAft>
              <a:defRPr sz="1250" b="1">
                <a:solidFill>
                  <a:srgbClr val="196BFA"/>
                </a:solidFill>
                <a:latin typeface="DM Sans Bold"/>
              </a:defRPr>
            </a:pPr>
            <a:r>
              <a:t>PRACTICAL SKILL VERIFICATION (ENGINE IN ACTION)</a:t>
            </a:r>
          </a:p>
          <a:p>
            <a:pPr>
              <a:spcAft>
                <a:spcPts val="300"/>
              </a:spcAft>
              <a:defRPr sz="1100" b="1">
                <a:solidFill>
                  <a:srgbClr val="212529"/>
                </a:solidFill>
                <a:latin typeface="DM Sans Bold"/>
              </a:defRPr>
            </a:pPr>
            <a:r>
              <a:t>• Candidate Claim: Python — Advanced</a:t>
            </a:r>
          </a:p>
          <a:p>
            <a:pPr>
              <a:spcAft>
                <a:spcPts val="300"/>
              </a:spcAft>
              <a:defRPr sz="1050">
                <a:solidFill>
                  <a:srgbClr val="3C4655"/>
                </a:solidFill>
                <a:latin typeface="DM Sans"/>
              </a:defRPr>
            </a:pPr>
            <a:r>
              <a:t>• Role Challenge: API / data handling, data processing, or algorithmic problem</a:t>
            </a:r>
          </a:p>
          <a:p>
            <a:pPr>
              <a:spcAft>
                <a:spcPts val="300"/>
              </a:spcAft>
              <a:defRPr sz="1050">
                <a:solidFill>
                  <a:srgbClr val="3C4655"/>
                </a:solidFill>
                <a:latin typeface="DM Sans"/>
              </a:defRPr>
            </a:pPr>
            <a:r>
              <a:t>• Multi-Factor Evaluation: Correctness, approach, code quality, efficiency &amp; explanation</a:t>
            </a:r>
          </a:p>
          <a:p>
            <a:pPr>
              <a:spcAft>
                <a:spcPts val="500"/>
              </a:spcAft>
              <a:defRPr sz="1050">
                <a:solidFill>
                  <a:srgbClr val="3C4655"/>
                </a:solidFill>
                <a:latin typeface="DM Sans"/>
              </a:defRPr>
            </a:pPr>
            <a:r>
              <a:t>• Profile Output: Practical verified evidence score added directly to evidence graph</a:t>
            </a:r>
          </a:p>
          <a:p>
            <a:pPr>
              <a:defRPr sz="950">
                <a:solidFill>
                  <a:srgbClr val="6E7887"/>
                </a:solidFill>
                <a:latin typeface="DM Sans"/>
              </a:defRPr>
            </a:pPr>
            <a:r>
              <a:t>🛡 AI Principle: AI supports evaluation but is not infallible; assessment results and evidence sources remain 100% visible to candidates and recruiters.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0000" y="4050000"/>
            <a:ext cx="5350000" cy="21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01600"/>
          <a:lstStyle/>
          <a:p>
            <a:pPr algn="ctr">
              <a:spcAft>
                <a:spcPts val="600"/>
              </a:spcAft>
              <a:defRPr sz="1250" b="1">
                <a:solidFill>
                  <a:srgbClr val="02A845"/>
                </a:solidFill>
                <a:latin typeface="DM Sans Bold"/>
              </a:defRPr>
            </a:pPr>
            <a:r>
              <a:t>SKILL EVIDENCE GRAPH &amp; COMPANY SPEC</a:t>
            </a:r>
          </a:p>
          <a:p>
            <a:pPr>
              <a:spcAft>
                <a:spcPts val="200"/>
              </a:spcAft>
              <a:defRPr sz="1100" b="1">
                <a:solidFill>
                  <a:srgbClr val="212529"/>
                </a:solidFill>
                <a:latin typeface="DM Sans Bold"/>
              </a:defRPr>
            </a:pPr>
            <a:r>
              <a:t>Evidence Graph Mapping Examples:</a:t>
            </a:r>
          </a:p>
          <a:p>
            <a:pPr>
              <a:spcAft>
                <a:spcPts val="200"/>
              </a:spcAft>
              <a:defRPr sz="1050">
                <a:solidFill>
                  <a:srgbClr val="3C4655"/>
                </a:solidFill>
                <a:latin typeface="DM Sans"/>
              </a:defRPr>
            </a:pPr>
            <a:r>
              <a:t>• Python: Project A + Project B + GitHub + Coding Assessment → [Strong Evidence]</a:t>
            </a:r>
          </a:p>
          <a:p>
            <a:pPr>
              <a:spcAft>
                <a:spcPts val="200"/>
              </a:spcAft>
              <a:defRPr sz="1050">
                <a:solidFill>
                  <a:srgbClr val="3C4655"/>
                </a:solidFill>
                <a:latin typeface="DM Sans"/>
              </a:defRPr>
            </a:pPr>
            <a:r>
              <a:t>• C++: Project C + GitHub Repo Activity → [Moderate Evidence]</a:t>
            </a:r>
          </a:p>
          <a:p>
            <a:pPr>
              <a:spcAft>
                <a:spcPts val="500"/>
              </a:spcAft>
              <a:defRPr sz="1050">
                <a:solidFill>
                  <a:srgbClr val="3C4655"/>
                </a:solidFill>
                <a:latin typeface="DM Sans"/>
              </a:defRPr>
            </a:pPr>
            <a:r>
              <a:t>• Machine Learning: ML Project + Model Implementation + Docs → [Strong Project Evidence]</a:t>
            </a:r>
          </a:p>
          <a:p>
            <a:pPr>
              <a:defRPr sz="1000" b="1">
                <a:solidFill>
                  <a:srgbClr val="0F50C8"/>
                </a:solidFill>
                <a:latin typeface="DM Sans Bold"/>
              </a:defRPr>
            </a:pPr>
            <a:r>
              <a:t>Role Spec Example (Junior Python Dev): Python (Strong) • SQL (Moderate+) • Git (Moderate+) • API Dev (Strong) • Exp: 0–2 yrs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50" y="422573"/>
            <a:ext cx="2333269" cy="1529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7381" y="856555"/>
            <a:ext cx="8470787" cy="7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7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TECH STACK</a:t>
            </a:r>
            <a:endParaRPr lang="en-US" sz="4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640" y="6340574"/>
            <a:ext cx="29170" cy="1529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2707" y="6337796"/>
            <a:ext cx="278460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sz="900" b="1">
                <a:solidFill>
                  <a:srgbClr val="000000"/>
                </a:solidFill>
                <a:latin typeface="DM Sans Bold"/>
              </a:rPr>
              <a:t>ABC — Aravali Build Championship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792440" y="2135981"/>
            <a:ext cx="14621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  <a:defRPr sz="1300" b="1">
                <a:solidFill>
                  <a:srgbClr val="196BFA"/>
                </a:solidFill>
                <a:latin typeface="DM Sans Bold"/>
              </a:defRPr>
            </a:pPr>
            <a:r>
              <a:t>ARCHITECTURE &amp; IMPLEMENTATION STACK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02" y="2551113"/>
            <a:ext cx="10842651" cy="145028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5862" y="2677319"/>
            <a:ext cx="153091" cy="1013023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049" y="2677319"/>
            <a:ext cx="153091" cy="1013023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3326" y="2677319"/>
            <a:ext cx="153091" cy="1013023"/>
          </a:xfrm>
          <a:prstGeom prst="rect">
            <a:avLst/>
          </a:prstGeom>
        </p:spPr>
      </p:pic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2010" y="2677319"/>
            <a:ext cx="153091" cy="1013023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1135133" y="2733080"/>
            <a:ext cx="1896817" cy="188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7A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3" name="Text 4"/>
          <p:cNvSpPr/>
          <p:nvPr/>
        </p:nvSpPr>
        <p:spPr>
          <a:xfrm>
            <a:off x="3261735" y="2735163"/>
            <a:ext cx="2071735" cy="192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7A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BACKEND</a:t>
            </a:r>
            <a:endParaRPr lang="en-US" sz="1200" dirty="0"/>
          </a:p>
        </p:txBody>
      </p:sp>
      <p:sp>
        <p:nvSpPr>
          <p:cNvPr id="14" name="Text 5"/>
          <p:cNvSpPr/>
          <p:nvPr/>
        </p:nvSpPr>
        <p:spPr>
          <a:xfrm>
            <a:off x="5523270" y="2746871"/>
            <a:ext cx="189681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7A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5" name="Text 6"/>
          <p:cNvSpPr/>
          <p:nvPr/>
        </p:nvSpPr>
        <p:spPr>
          <a:xfrm>
            <a:off x="7705334" y="2763044"/>
            <a:ext cx="2071735" cy="192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7A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AI &amp; INTEGRATIONS</a:t>
            </a:r>
            <a:endParaRPr lang="en-US" sz="1200" dirty="0"/>
          </a:p>
        </p:txBody>
      </p:sp>
      <p:sp>
        <p:nvSpPr>
          <p:cNvPr id="16" name="Text 7"/>
          <p:cNvSpPr/>
          <p:nvPr/>
        </p:nvSpPr>
        <p:spPr>
          <a:xfrm>
            <a:off x="9960520" y="2780109"/>
            <a:ext cx="2071735" cy="192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7A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SCORING</a:t>
            </a:r>
            <a:endParaRPr lang="en-US" sz="1200" dirty="0"/>
          </a:p>
        </p:txBody>
      </p:sp>
      <p:sp>
        <p:nvSpPr>
          <p:cNvPr id="17" name="Text 8"/>
          <p:cNvSpPr/>
          <p:nvPr/>
        </p:nvSpPr>
        <p:spPr>
          <a:xfrm>
            <a:off x="1109932" y="3050000"/>
            <a:ext cx="1218475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spcAft>
                <a:spcPts val="200"/>
              </a:spcAft>
              <a:buNone/>
              <a:defRPr sz="1100" b="1">
                <a:solidFill>
                  <a:srgbClr val="212529"/>
                </a:solidFill>
                <a:latin typeface="DM Sans Bold"/>
              </a:defRPr>
            </a:pPr>
            <a:r>
              <a:t>React / Vite</a:t>
            </a:r>
            <a:endParaRPr lang="en-US" sz="1250" dirty="0"/>
          </a:p>
          <a:p>
            <a:pPr>
              <a:defRPr sz="900">
                <a:solidFill>
                  <a:srgbClr val="5A6473"/>
                </a:solidFill>
                <a:latin typeface="DM Sans"/>
              </a:defRPr>
            </a:pPr>
            <a:r>
              <a:t>Candidate &amp; company</a:t>
            </a:r>
            <a:br/>
            <a:r>
              <a:t>dashboards</a:t>
            </a:r>
          </a:p>
        </p:txBody>
      </p:sp>
      <p:sp>
        <p:nvSpPr>
          <p:cNvPr id="18" name="Text 9"/>
          <p:cNvSpPr/>
          <p:nvPr/>
        </p:nvSpPr>
        <p:spPr>
          <a:xfrm>
            <a:off x="3261735" y="3050000"/>
            <a:ext cx="1218475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spcAft>
                <a:spcPts val="200"/>
              </a:spcAft>
              <a:buNone/>
              <a:defRPr sz="1100" b="1">
                <a:solidFill>
                  <a:srgbClr val="212529"/>
                </a:solidFill>
                <a:latin typeface="DM Sans Bold"/>
              </a:defRPr>
            </a:pPr>
            <a:r>
              <a:t>FastAPI / Python</a:t>
            </a:r>
            <a:endParaRPr lang="en-US" sz="1300" dirty="0"/>
          </a:p>
          <a:p>
            <a:pPr>
              <a:defRPr sz="900">
                <a:solidFill>
                  <a:srgbClr val="5A6473"/>
                </a:solidFill>
                <a:latin typeface="DM Sans"/>
              </a:defRPr>
            </a:pPr>
            <a:r>
              <a:t>APIs, workflow &amp;</a:t>
            </a:r>
            <a:br/>
            <a:r>
              <a:t>matching engine</a:t>
            </a:r>
          </a:p>
        </p:txBody>
      </p:sp>
      <p:sp>
        <p:nvSpPr>
          <p:cNvPr id="19" name="Text 10"/>
          <p:cNvSpPr/>
          <p:nvPr/>
        </p:nvSpPr>
        <p:spPr>
          <a:xfrm>
            <a:off x="5535474" y="3050000"/>
            <a:ext cx="1336741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spcAft>
                <a:spcPts val="200"/>
              </a:spcAft>
              <a:buNone/>
              <a:defRPr sz="1100" b="1">
                <a:solidFill>
                  <a:srgbClr val="212529"/>
                </a:solidFill>
                <a:latin typeface="DM Sans Bold"/>
              </a:defRPr>
            </a:pPr>
            <a:r>
              <a:t>Firebase / Supabase</a:t>
            </a:r>
            <a:endParaRPr lang="en-US" sz="1250" dirty="0"/>
          </a:p>
          <a:p>
            <a:pPr>
              <a:defRPr sz="900">
                <a:solidFill>
                  <a:srgbClr val="5A6473"/>
                </a:solidFill>
                <a:latin typeface="DM Sans"/>
              </a:defRPr>
            </a:pPr>
            <a:r>
              <a:t>Profiles, evidence &amp;</a:t>
            </a:r>
            <a:br/>
            <a:r>
              <a:t>role schemas</a:t>
            </a:r>
          </a:p>
        </p:txBody>
      </p:sp>
      <p:sp>
        <p:nvSpPr>
          <p:cNvPr id="20" name="Text 11"/>
          <p:cNvSpPr/>
          <p:nvPr/>
        </p:nvSpPr>
        <p:spPr>
          <a:xfrm>
            <a:off x="7497079" y="3050000"/>
            <a:ext cx="1674572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spcAft>
                <a:spcPts val="200"/>
              </a:spcAft>
              <a:buNone/>
              <a:defRPr sz="1100" b="1">
                <a:solidFill>
                  <a:srgbClr val="212529"/>
                </a:solidFill>
                <a:latin typeface="DM Sans Bold"/>
              </a:defRPr>
            </a:pPr>
            <a:r>
              <a:t>Gemini &amp; GitHub API</a:t>
            </a:r>
            <a:endParaRPr lang="en-US" sz="1250" dirty="0"/>
          </a:p>
          <a:p>
            <a:pPr>
              <a:defRPr sz="900">
                <a:solidFill>
                  <a:srgbClr val="5A6473"/>
                </a:solidFill>
                <a:latin typeface="DM Sans"/>
              </a:defRPr>
            </a:pPr>
            <a:r>
              <a:t>Skill extraction,</a:t>
            </a:r>
            <a:br/>
            <a:r>
              <a:t>parsing &amp; assessment</a:t>
            </a:r>
          </a:p>
        </p:txBody>
      </p:sp>
      <p:sp>
        <p:nvSpPr>
          <p:cNvPr id="21" name="Text 12"/>
          <p:cNvSpPr/>
          <p:nvPr/>
        </p:nvSpPr>
        <p:spPr>
          <a:xfrm>
            <a:off x="9960520" y="3050000"/>
            <a:ext cx="1336741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spcAft>
                <a:spcPts val="200"/>
              </a:spcAft>
              <a:buNone/>
              <a:defRPr sz="1100" b="1">
                <a:solidFill>
                  <a:srgbClr val="212529"/>
                </a:solidFill>
                <a:latin typeface="DM Sans Bold"/>
              </a:defRPr>
            </a:pPr>
            <a:r>
              <a:t>Rule-based Python</a:t>
            </a:r>
            <a:endParaRPr lang="en-US" sz="1200" dirty="0"/>
          </a:p>
          <a:p>
            <a:pPr>
              <a:defRPr sz="900">
                <a:solidFill>
                  <a:srgbClr val="5A6473"/>
                </a:solidFill>
                <a:latin typeface="DM Sans"/>
              </a:defRPr>
            </a:pPr>
            <a:r>
              <a:t>Transparent tiers &amp;</a:t>
            </a:r>
            <a:br/>
            <a:r>
              <a:t>match reasons</a:t>
            </a:r>
          </a:p>
        </p:txBody>
      </p:sp>
      <p:sp>
        <p:nvSpPr>
          <p:cNvPr id="22" name="Text 13"/>
          <p:cNvSpPr/>
          <p:nvPr/>
        </p:nvSpPr>
        <p:spPr>
          <a:xfrm>
            <a:off x="3023517" y="6337498"/>
            <a:ext cx="1662865" cy="187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sz="900" b="1">
                <a:solidFill>
                  <a:srgbClr val="8F8F8F"/>
                </a:solidFill>
                <a:latin typeface="DM Sans Bold"/>
              </a:rPr>
              <a:t>by GDG Udaipur</a:t>
            </a:r>
            <a:endParaRPr lang="en-US" sz="900" dirty="0"/>
          </a:p>
        </p:txBody>
      </p:sp>
      <p:sp>
        <p:nvSpPr>
          <p:cNvPr id="23" name="Rounded Rectangle 22"/>
          <p:cNvSpPr/>
          <p:nvPr/>
        </p:nvSpPr>
        <p:spPr>
          <a:xfrm>
            <a:off x="600000" y="4220000"/>
            <a:ext cx="5350000" cy="19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ctr">
              <a:spcAft>
                <a:spcPts val="500"/>
              </a:spcAft>
              <a:defRPr sz="1200" b="1">
                <a:solidFill>
                  <a:srgbClr val="196BFA"/>
                </a:solidFill>
                <a:latin typeface="DM Sans Bold"/>
              </a:defRPr>
            </a:pPr>
            <a:r>
              <a:t>HACKATHON MVP — CORE SCOPE (BUILD THESE FIRST)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  <a:latin typeface="DM Sans"/>
              </a:defRPr>
            </a:pPr>
            <a:r>
              <a:t>1. Candidate profile and evidence upload (Resume, GitHub, Projects)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  <a:latin typeface="DM Sans"/>
              </a:defRPr>
            </a:pPr>
            <a:r>
              <a:t>2. Automated AI skill extraction from resume and project data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  <a:latin typeface="DM Sans"/>
              </a:defRPr>
            </a:pPr>
            <a:r>
              <a:t>3. Claim vs Evidence dashboard with transparent evidence tiers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  <a:latin typeface="DM Sans"/>
              </a:defRPr>
            </a:pPr>
            <a:r>
              <a:t>4. One interactive practical challenge for a selected core skill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  <a:latin typeface="DM Sans"/>
              </a:defRPr>
            </a:pPr>
            <a:r>
              <a:t>5. Company role form with explainable candidate matching engine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0000" y="4220000"/>
            <a:ext cx="5350000" cy="19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ctr">
              <a:spcAft>
                <a:spcPts val="500"/>
              </a:spcAft>
              <a:defRPr sz="1200" b="1">
                <a:solidFill>
                  <a:srgbClr val="02A845"/>
                </a:solidFill>
                <a:latin typeface="DM Sans Bold"/>
              </a:defRPr>
            </a:pPr>
            <a:r>
              <a:t>SAFETY, FAIRNESS &amp; RESPONSIBLE AI PRINCIPLES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  <a:latin typeface="DM Sans"/>
              </a:defRPr>
            </a:pPr>
            <a:r>
              <a:t>• Consented Evidence: Ingest only candidate-consented files and public repositories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  <a:latin typeface="DM Sans"/>
              </a:defRPr>
            </a:pPr>
            <a:r>
              <a:t>• Privacy Protection: Secure handling &amp; data isolation of candidate source code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  <a:latin typeface="DM Sans"/>
              </a:defRPr>
            </a:pPr>
            <a:r>
              <a:t>• Explainable Decisions: Always show why a tier or match was assigned—no black box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  <a:latin typeface="DM Sans"/>
              </a:defRPr>
            </a:pPr>
            <a:r>
              <a:t>• AI as Assistant: Avoid treating AI scores as infallible truth; show supporting evidence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  <a:latin typeface="DM Sans"/>
              </a:defRPr>
            </a:pPr>
            <a:r>
              <a:t>• Humans in Control: System assists evaluation; final hiring decisions stay human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50" y="422573"/>
            <a:ext cx="2333269" cy="1529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00" y="888317"/>
            <a:ext cx="8760995" cy="697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455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IMPACT &amp; SCALABILITY</a:t>
            </a:r>
            <a:endParaRPr lang="en-US" sz="4550" dirty="0"/>
          </a:p>
        </p:txBody>
      </p:sp>
      <p:sp>
        <p:nvSpPr>
          <p:cNvPr id="4" name="Text 1"/>
          <p:cNvSpPr/>
          <p:nvPr/>
        </p:nvSpPr>
        <p:spPr>
          <a:xfrm>
            <a:off x="633893" y="2526088"/>
            <a:ext cx="2370177" cy="273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3893" y="2907209"/>
            <a:ext cx="422790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33893" y="3574075"/>
            <a:ext cx="2370177" cy="27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58300" y="3876080"/>
            <a:ext cx="4226514" cy="556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6050" y="4627839"/>
            <a:ext cx="2340909" cy="273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8300" y="5011539"/>
            <a:ext cx="3905946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315" y="1851124"/>
            <a:ext cx="6832231" cy="40083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05778" y="3379113"/>
            <a:ext cx="1587460" cy="230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242389" y="3905052"/>
            <a:ext cx="1460463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00000" y="3279577"/>
            <a:ext cx="590634" cy="2987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83199" y="3385491"/>
            <a:ext cx="1841454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619809" y="3905052"/>
            <a:ext cx="1676358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000000" y="3417987"/>
            <a:ext cx="532196" cy="15299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32749" y="3378716"/>
            <a:ext cx="1523962" cy="230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0032749" y="3905052"/>
            <a:ext cx="1523962" cy="911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endParaRPr lang="en-US" sz="11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5398" y="6333331"/>
            <a:ext cx="29170" cy="16023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58300" y="6347916"/>
            <a:ext cx="2809011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sz="900" b="1">
                <a:solidFill>
                  <a:srgbClr val="000000"/>
                </a:solidFill>
                <a:latin typeface="DM Sans Bold"/>
              </a:rPr>
              <a:t>ABC — Aravali Build Championship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3023517" y="6341269"/>
            <a:ext cx="1662865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sz="900" b="1">
                <a:solidFill>
                  <a:srgbClr val="8F8F8F"/>
                </a:solidFill>
                <a:latin typeface="DM Sans Bold"/>
              </a:rPr>
              <a:t>by GDG Udaipur</a:t>
            </a:r>
            <a:endParaRPr lang="en-US" sz="850" dirty="0"/>
          </a:p>
        </p:txBody>
      </p:sp>
      <p:sp>
        <p:nvSpPr>
          <p:cNvPr id="22" name="Rounded Rectangle 21"/>
          <p:cNvSpPr/>
          <p:nvPr/>
        </p:nvSpPr>
        <p:spPr>
          <a:xfrm>
            <a:off x="600000" y="1850000"/>
            <a:ext cx="4350000" cy="4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27000"/>
          <a:lstStyle/>
          <a:p>
            <a:pPr algn="ctr">
              <a:spcAft>
                <a:spcPts val="600"/>
              </a:spcAft>
              <a:defRPr sz="1300" b="1">
                <a:solidFill>
                  <a:srgbClr val="196BFA"/>
                </a:solidFill>
                <a:latin typeface="DM Sans Bold"/>
              </a:defRPr>
            </a:pPr>
            <a:r>
              <a:t>WHAT MAKES SKILLPROOF DIFFERENT?</a:t>
            </a:r>
          </a:p>
          <a:p>
            <a:pPr>
              <a:spcAft>
                <a:spcPts val="200"/>
              </a:spcAft>
              <a:defRPr sz="1050">
                <a:solidFill>
                  <a:srgbClr val="78828C"/>
                </a:solidFill>
                <a:latin typeface="DM Sans"/>
              </a:defRPr>
            </a:pPr>
            <a:r>
              <a:t>• Resume claims → </a:t>
            </a:r>
            <a:r>
              <a:rPr sz="1050" b="1">
                <a:solidFill>
                  <a:srgbClr val="212529"/>
                </a:solidFill>
                <a:latin typeface="DM Sans Bold"/>
              </a:rPr>
              <a:t>Claims connected to real evidence</a:t>
            </a:r>
          </a:p>
          <a:p>
            <a:pPr>
              <a:spcAft>
                <a:spcPts val="200"/>
              </a:spcAft>
              <a:defRPr sz="1050">
                <a:solidFill>
                  <a:srgbClr val="78828C"/>
                </a:solidFill>
                <a:latin typeface="DM Sans"/>
              </a:defRPr>
            </a:pPr>
            <a:r>
              <a:t>• Keyword-based filtering → </a:t>
            </a:r>
            <a:r>
              <a:rPr sz="1050" b="1">
                <a:solidFill>
                  <a:srgbClr val="212529"/>
                </a:solidFill>
                <a:latin typeface="DM Sans Bold"/>
              </a:rPr>
              <a:t>Evidence-based skill matching</a:t>
            </a:r>
          </a:p>
          <a:p>
            <a:pPr>
              <a:spcAft>
                <a:spcPts val="200"/>
              </a:spcAft>
              <a:defRPr sz="1050">
                <a:solidFill>
                  <a:srgbClr val="78828C"/>
                </a:solidFill>
                <a:latin typeface="DM Sans"/>
              </a:defRPr>
            </a:pPr>
            <a:r>
              <a:t>• Certificates as signals → </a:t>
            </a:r>
            <a:r>
              <a:rPr sz="1050" b="1">
                <a:solidFill>
                  <a:srgbClr val="212529"/>
                </a:solidFill>
                <a:latin typeface="DM Sans Bold"/>
              </a:rPr>
              <a:t>Projects + code + assessments + exp</a:t>
            </a:r>
          </a:p>
          <a:p>
            <a:pPr>
              <a:spcAft>
                <a:spcPts val="200"/>
              </a:spcAft>
              <a:defRPr sz="1050">
                <a:solidFill>
                  <a:srgbClr val="78828C"/>
                </a:solidFill>
                <a:latin typeface="DM Sans"/>
              </a:defRPr>
            </a:pPr>
            <a:r>
              <a:t>• Generic screening → </a:t>
            </a:r>
            <a:r>
              <a:rPr sz="1050" b="1">
                <a:solidFill>
                  <a:srgbClr val="212529"/>
                </a:solidFill>
                <a:latin typeface="DM Sans Bold"/>
              </a:rPr>
              <a:t>Role-specific practical challenges</a:t>
            </a:r>
          </a:p>
          <a:p>
            <a:pPr>
              <a:spcAft>
                <a:spcPts val="200"/>
              </a:spcAft>
              <a:defRPr sz="1050">
                <a:solidFill>
                  <a:srgbClr val="78828C"/>
                </a:solidFill>
                <a:latin typeface="DM Sans"/>
              </a:defRPr>
            </a:pPr>
            <a:r>
              <a:t>• Opaque single score → </a:t>
            </a:r>
            <a:r>
              <a:rPr sz="1050" b="1">
                <a:solidFill>
                  <a:srgbClr val="212529"/>
                </a:solidFill>
                <a:latin typeface="DM Sans Bold"/>
              </a:rPr>
              <a:t>Explainable requirement reasons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2A845"/>
                </a:solidFill>
                <a:latin typeface="DM Sans Bold"/>
              </a:defRPr>
            </a:pPr>
            <a:r>
              <a:t>POTENTIAL IMPACT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  <a:latin typeface="DM Sans"/>
              </a:defRPr>
            </a:pPr>
            <a:r>
              <a:t>For Candidates: Clearer demonstration of abilities, visibility into skill gaps, and fair merit-based shortlisting beyond resume keywords.</a:t>
            </a:r>
          </a:p>
          <a:p>
            <a:pPr>
              <a:defRPr sz="1050">
                <a:solidFill>
                  <a:srgbClr val="212529"/>
                </a:solidFill>
                <a:latin typeface="DM Sans"/>
              </a:defRPr>
            </a:pPr>
            <a:r>
              <a:t>For Companies: 10x faster evidence review, highly focused shortlists, and confidence in candidate capability before the first interview.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50000" y="1850000"/>
            <a:ext cx="6350000" cy="2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01600"/>
          <a:lstStyle/>
          <a:p>
            <a:pPr algn="ctr">
              <a:spcAft>
                <a:spcPts val="600"/>
              </a:spcAft>
              <a:defRPr sz="1250" b="1">
                <a:solidFill>
                  <a:srgbClr val="02A845"/>
                </a:solidFill>
                <a:latin typeface="DM Sans Bold"/>
              </a:defRPr>
            </a:pPr>
            <a:r>
              <a:t>EXPLAINABLE MATCHING PROTOTYPE: 91% EVIDENCE MATCH</a:t>
            </a:r>
          </a:p>
          <a:p>
            <a:pPr>
              <a:spcAft>
                <a:spcPts val="400"/>
              </a:spcAft>
              <a:defRPr sz="1100" b="1">
                <a:solidFill>
                  <a:srgbClr val="212529"/>
                </a:solidFill>
                <a:latin typeface="DM Sans Bold"/>
              </a:defRPr>
            </a:pPr>
            <a:r>
              <a:t>Candidate: Aarav | Evaluated Role: Junior AI / Python Developer</a:t>
            </a:r>
          </a:p>
          <a:p>
            <a:pPr>
              <a:spcAft>
                <a:spcPts val="100"/>
              </a:spcAft>
              <a:defRPr sz="1000">
                <a:solidFill>
                  <a:srgbClr val="3C4650"/>
                </a:solidFill>
                <a:latin typeface="DM Sans"/>
              </a:defRPr>
            </a:pPr>
            <a:r>
              <a:t>• Python: Projects + coding challenge → </a:t>
            </a:r>
            <a:r>
              <a:rPr sz="1000" b="1">
                <a:solidFill>
                  <a:srgbClr val="02A845"/>
                </a:solidFill>
                <a:latin typeface="DM Sans Bold"/>
              </a:rPr>
              <a:t>[Strong Evidence]</a:t>
            </a:r>
          </a:p>
          <a:p>
            <a:pPr>
              <a:spcAft>
                <a:spcPts val="100"/>
              </a:spcAft>
              <a:defRPr sz="1000">
                <a:solidFill>
                  <a:srgbClr val="3C4650"/>
                </a:solidFill>
                <a:latin typeface="DM Sans"/>
              </a:defRPr>
            </a:pPr>
            <a:r>
              <a:t>• Machine Learning: ML projects + technical documentation → </a:t>
            </a:r>
            <a:r>
              <a:rPr sz="1000" b="1">
                <a:solidFill>
                  <a:srgbClr val="02A845"/>
                </a:solidFill>
                <a:latin typeface="DM Sans Bold"/>
              </a:rPr>
              <a:t>[Strong Project Evidence]</a:t>
            </a:r>
          </a:p>
          <a:p>
            <a:pPr>
              <a:spcAft>
                <a:spcPts val="100"/>
              </a:spcAft>
              <a:defRPr sz="1000">
                <a:solidFill>
                  <a:srgbClr val="3C4650"/>
                </a:solidFill>
                <a:latin typeface="DM Sans"/>
              </a:defRPr>
            </a:pPr>
            <a:r>
              <a:t>• Git: Active repository commits &amp; PR history → </a:t>
            </a:r>
            <a:r>
              <a:rPr sz="1000" b="1">
                <a:solidFill>
                  <a:srgbClr val="02A845"/>
                </a:solidFill>
                <a:latin typeface="DM Sans Bold"/>
              </a:rPr>
              <a:t>[Strong Evidence]</a:t>
            </a:r>
          </a:p>
          <a:p>
            <a:pPr>
              <a:spcAft>
                <a:spcPts val="100"/>
              </a:spcAft>
              <a:defRPr sz="1000">
                <a:solidFill>
                  <a:srgbClr val="3C4650"/>
                </a:solidFill>
                <a:latin typeface="DM Sans"/>
              </a:defRPr>
            </a:pPr>
            <a:r>
              <a:t>• SQL: 1 project; limited assessment evidence → </a:t>
            </a:r>
            <a:r>
              <a:rPr sz="1000" b="1">
                <a:solidFill>
                  <a:srgbClr val="DC780A"/>
                </a:solidFill>
                <a:latin typeface="DM Sans Bold"/>
              </a:rPr>
              <a:t>[Moderate Evidence]</a:t>
            </a:r>
          </a:p>
          <a:p>
            <a:pPr>
              <a:spcAft>
                <a:spcPts val="100"/>
              </a:spcAft>
              <a:defRPr sz="1000">
                <a:solidFill>
                  <a:srgbClr val="3C4650"/>
                </a:solidFill>
                <a:latin typeface="DM Sans"/>
              </a:defRPr>
            </a:pPr>
            <a:r>
              <a:t>• API Development: Project evidence (REST API) → </a:t>
            </a:r>
            <a:r>
              <a:rPr sz="1000" b="1">
                <a:solidFill>
                  <a:srgbClr val="DC780A"/>
                </a:solidFill>
                <a:latin typeface="DM Sans Bold"/>
              </a:rPr>
              <a:t>[Moderate Evidence]</a:t>
            </a:r>
          </a:p>
          <a:p>
            <a:pPr>
              <a:spcBef>
                <a:spcPts val="300"/>
              </a:spcBef>
              <a:defRPr sz="1000" b="1">
                <a:solidFill>
                  <a:srgbClr val="0F50C8"/>
                </a:solidFill>
                <a:latin typeface="DM Sans Bold"/>
              </a:defRPr>
            </a:pPr>
            <a:r>
              <a:t>Why recommended? Strong evidence for Python, ML, and Git; moderate evidence for SQL and APIs.</a:t>
            </a:r>
          </a:p>
          <a:p>
            <a:pPr>
              <a:defRPr sz="850">
                <a:solidFill>
                  <a:srgbClr val="828C96"/>
                </a:solidFill>
                <a:latin typeface="DM Sans"/>
              </a:defRPr>
            </a:pPr>
            <a:r>
              <a:t>* Prototype illustrative example—not a validated hiring prediction. Transparent criteria leave final decisions to companies.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50000" y="4600000"/>
            <a:ext cx="6350000" cy="15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01600"/>
          <a:lstStyle/>
          <a:p>
            <a:pPr algn="ctr">
              <a:spcAft>
                <a:spcPts val="400"/>
              </a:spcAft>
              <a:defRPr sz="1200" b="1">
                <a:solidFill>
                  <a:srgbClr val="196BFA"/>
                </a:solidFill>
                <a:latin typeface="DM Sans Bold"/>
              </a:defRPr>
            </a:pPr>
            <a:r>
              <a:t>FUTURE SCOPE &amp; BUILT TO SCALE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  <a:latin typeface="DM Sans"/>
              </a:defRPr>
            </a:pPr>
            <a:r>
              <a:t>• Multi-domain assessment types and automated challenge generation sandboxes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  <a:latin typeface="DM Sans"/>
              </a:defRPr>
            </a:pPr>
            <a:r>
              <a:t>• Verified certificate integrations (Coursera, AWS, Google Cloud, HackerRank)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  <a:latin typeface="DM Sans"/>
              </a:defRPr>
            </a:pPr>
            <a:r>
              <a:t>• Organization-specific customized skill rubrics and challenge libraries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  <a:latin typeface="DM Sans"/>
              </a:defRPr>
            </a:pPr>
            <a:r>
              <a:t>• Blind screening options to eliminate hiring bias &amp; living skill profiles syncing continuously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2026-10-14T21:29:13Z</dcterms:created>
  <dcterms:modified xsi:type="dcterms:W3CDTF">2026-10-14T21:29:13Z</dcterms:modified>
</cp:coreProperties>
</file>